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Sheet1!$A$2:$A$4</c:f>
              <c:strCache>
                <c:ptCount val="3"/>
                <c:pt idx="0">
                  <c:v>Флот</c:v>
                </c:pt>
                <c:pt idx="1">
                  <c:v>Ж/д перевозки</c:v>
                </c:pt>
                <c:pt idx="2">
                  <c:v>Элеваторы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Sheet1!$A$2:$A$4</c:f>
              <c:strCache>
                <c:ptCount val="3"/>
                <c:pt idx="0">
                  <c:v>Флот</c:v>
                </c:pt>
                <c:pt idx="1">
                  <c:v>Ж/д перевозки</c:v>
                </c:pt>
                <c:pt idx="2">
                  <c:v>Элеваторы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Флот</c:v>
                </c:pt>
              </c:strCache>
            </c:strRef>
          </c:tx>
          <c:spPr>
            <a:ln w="31750">
              <a:solidFill>
                <a:srgbClr val="1F3A5F"/>
              </a:solidFill>
            </a:ln>
          </c:spPr>
          <c:cat>
            <c:strRef>
              <c:f>Sheet1!$A$2:$A$3</c:f>
              <c:strCache>
                <c:ptCount val="2"/>
                <c:pt idx="0">
                  <c:v>Янв</c:v>
                </c:pt>
                <c:pt idx="1">
                  <c:v>Фев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Ж/д перевозки</c:v>
                </c:pt>
              </c:strCache>
            </c:strRef>
          </c:tx>
          <c:spPr>
            <a:ln w="31750">
              <a:solidFill>
                <a:srgbClr val="2A9D8F"/>
              </a:solidFill>
            </a:ln>
          </c:spPr>
          <c:cat>
            <c:strRef>
              <c:f>Sheet1!$A$2:$A$3</c:f>
              <c:strCache>
                <c:ptCount val="2"/>
                <c:pt idx="0">
                  <c:v>Янв</c:v>
                </c:pt>
                <c:pt idx="1">
                  <c:v>Фев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Элеваторы</c:v>
                </c:pt>
              </c:strCache>
            </c:strRef>
          </c:tx>
          <c:spPr>
            <a:ln w="31750">
              <a:solidFill>
                <a:srgbClr val="E9C46A"/>
              </a:solidFill>
            </a:ln>
          </c:spPr>
          <c:cat>
            <c:strRef>
              <c:f>Sheet1!$A$2:$A$3</c:f>
              <c:strCache>
                <c:ptCount val="2"/>
                <c:pt idx="0">
                  <c:v>Янв</c:v>
                </c:pt>
                <c:pt idx="1">
                  <c:v>Фев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Управленческий отчёт холдинга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9C46A"/>
                </a:solidFill>
              </a:rPr>
              <a:t>{{период}}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Демо-шаблон курса «ИИ без воды». Все цифры выдуманы.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Выручка: план и факт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Таблица_выручка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860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План,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Факт,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Исполнение, %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{{итог_выручки}}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Выручка по направлениям, млн руб.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График_план_факт"/>
          <p:cNvGraphicFramePr>
            <a:graphicFrameLocks noGrp="1"/>
          </p:cNvGraphicFramePr>
          <p:nvPr/>
        </p:nvGraphicFramePr>
        <p:xfrm>
          <a:off x="548640" y="1371600"/>
          <a:ext cx="10972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Динамика выручки с начала года, млн руб.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График_динамика"/>
          <p:cNvGraphicFramePr>
            <a:graphicFrameLocks noGrp="1"/>
          </p:cNvGraphicFramePr>
          <p:nvPr/>
        </p:nvGraphicFramePr>
        <p:xfrm>
          <a:off x="548640" y="1371600"/>
          <a:ext cx="10972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EBITDA и рентабельность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Таблица_EBITDA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860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Выручка,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EBITDA,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Рентабельность, %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Флот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Таблица_Флот"/>
          <p:cNvGraphicFramePr>
            <a:graphicFrameLocks noGrp="1"/>
          </p:cNvGraphicFramePr>
          <p:nvPr/>
        </p:nvGraphicFramePr>
        <p:xfrm>
          <a:off x="548640" y="14630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Прошлый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Текущий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Комментарий дирекции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{{комментарий_Флот}}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Ж/д перевозки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Таблица_Ж/д перевозки"/>
          <p:cNvGraphicFramePr>
            <a:graphicFrameLocks noGrp="1"/>
          </p:cNvGraphicFramePr>
          <p:nvPr/>
        </p:nvGraphicFramePr>
        <p:xfrm>
          <a:off x="548640" y="14630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Прошлый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Текущий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Комментарий дирекции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{{комментарий_Ж/д перевозки}}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Элеваторы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Таблица_Элеваторы"/>
          <p:cNvGraphicFramePr>
            <a:graphicFrameLocks noGrp="1"/>
          </p:cNvGraphicFramePr>
          <p:nvPr/>
        </p:nvGraphicFramePr>
        <p:xfrm>
          <a:off x="548640" y="14630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Прошлый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Текущий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Комментарий дирекции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{{комментарий_Элеваторы}}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Долговая нагрузка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graphicFrame>
        <p:nvGraphicFramePr>
          <p:cNvPr id="5" name="Таблица_долг"/>
          <p:cNvGraphicFramePr>
            <a:graphicFrameLocks noGrp="1"/>
          </p:cNvGraphicFramePr>
          <p:nvPr/>
        </p:nvGraphicFramePr>
        <p:xfrm>
          <a:off x="548640" y="146304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2860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</a:rPr>
              <a:t>{{статус_ковенанта}}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2D33"/>
                </a:solidFill>
              </a:rPr>
              <a:t>{{выводы}}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Контроль сборки (служебный слайд)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{{период}}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B2D33"/>
                </a:solidFill>
              </a:rPr>
              <a:t>{{контроль}}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