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6B7280"/>
            </a:solidFill>
          </c:spPr>
          <c:cat>
            <c:strRef>
              <c:f>Sheet1!$A$2:$A$4</c:f>
              <c:strCache>
                <c:ptCount val="3"/>
                <c:pt idx="0">
                  <c:v>Флот</c:v>
                </c:pt>
                <c:pt idx="1">
                  <c:v>Ж/д перевозки</c:v>
                </c:pt>
                <c:pt idx="2">
                  <c:v>Элеваторы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500.0</c:v>
                </c:pt>
                <c:pt idx="1">
                  <c:v>720.0</c:v>
                </c:pt>
                <c:pt idx="2">
                  <c:v>400.0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2A9D8F"/>
            </a:solidFill>
          </c:spPr>
          <c:cat>
            <c:strRef>
              <c:f>Sheet1!$A$2:$A$4</c:f>
              <c:strCache>
                <c:ptCount val="3"/>
                <c:pt idx="0">
                  <c:v>Флот</c:v>
                </c:pt>
                <c:pt idx="1">
                  <c:v>Ж/д перевозки</c:v>
                </c:pt>
                <c:pt idx="2">
                  <c:v>Элеваторы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512.0</c:v>
                </c:pt>
                <c:pt idx="1">
                  <c:v>728.0</c:v>
                </c:pt>
                <c:pt idx="2">
                  <c:v>365.0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Флот</c:v>
                </c:pt>
              </c:strCache>
            </c:strRef>
          </c:tx>
          <c:spPr>
            <a:ln w="31750">
              <a:solidFill>
                <a:srgbClr val="1F3A5F"/>
              </a:solidFill>
            </a:ln>
          </c:spPr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410.0</c:v>
                </c:pt>
                <c:pt idx="1">
                  <c:v>395.0</c:v>
                </c:pt>
                <c:pt idx="2">
                  <c:v>430.0</c:v>
                </c:pt>
                <c:pt idx="3">
                  <c:v>452.0</c:v>
                </c:pt>
                <c:pt idx="4">
                  <c:v>470.0</c:v>
                </c:pt>
                <c:pt idx="5">
                  <c:v>488.0</c:v>
                </c:pt>
                <c:pt idx="6">
                  <c:v>501.0</c:v>
                </c:pt>
                <c:pt idx="7">
                  <c:v>495.0</c:v>
                </c:pt>
                <c:pt idx="8">
                  <c:v>512.0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Ж/д перевозки</c:v>
                </c:pt>
              </c:strCache>
            </c:strRef>
          </c:tx>
          <c:spPr>
            <a:ln w="31750">
              <a:solidFill>
                <a:srgbClr val="2A9D8F"/>
              </a:solidFill>
            </a:ln>
          </c:spPr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620.0</c:v>
                </c:pt>
                <c:pt idx="1">
                  <c:v>605.0</c:v>
                </c:pt>
                <c:pt idx="2">
                  <c:v>640.0</c:v>
                </c:pt>
                <c:pt idx="3">
                  <c:v>655.0</c:v>
                </c:pt>
                <c:pt idx="4">
                  <c:v>671.0</c:v>
                </c:pt>
                <c:pt idx="5">
                  <c:v>690.0</c:v>
                </c:pt>
                <c:pt idx="6">
                  <c:v>702.0</c:v>
                </c:pt>
                <c:pt idx="7">
                  <c:v>715.0</c:v>
                </c:pt>
                <c:pt idx="8">
                  <c:v>728.0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Элеваторы</c:v>
                </c:pt>
              </c:strCache>
            </c:strRef>
          </c:tx>
          <c:spPr>
            <a:ln w="31750">
              <a:solidFill>
                <a:srgbClr val="E9C46A"/>
              </a:solidFill>
            </a:ln>
          </c:spPr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180.0</c:v>
                </c:pt>
                <c:pt idx="1">
                  <c:v>150.0</c:v>
                </c:pt>
                <c:pt idx="2">
                  <c:v>140.0</c:v>
                </c:pt>
                <c:pt idx="3">
                  <c:v>120.0</c:v>
                </c:pt>
                <c:pt idx="4">
                  <c:v>110.0</c:v>
                </c:pt>
                <c:pt idx="5">
                  <c:v>135.0</c:v>
                </c:pt>
                <c:pt idx="6">
                  <c:v>260.0</c:v>
                </c:pt>
                <c:pt idx="7">
                  <c:v>340.0</c:v>
                </c:pt>
                <c:pt idx="8">
                  <c:v>365.0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Управленческий отчёт холдинга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9C46A"/>
                </a:solidFill>
              </a:rPr>
              <a:t>Сентябрь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Демо-шаблон курса «ИИ без воды». Все цифры выдуманы.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Выручка: план и факт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Сентябрь 2026</a:t>
            </a:r>
          </a:p>
        </p:txBody>
      </p:sp>
      <p:graphicFrame>
        <p:nvGraphicFramePr>
          <p:cNvPr id="5" name="Таблица_выручка"/>
          <p:cNvGraphicFramePr>
            <a:graphicFrameLocks noGrp="1"/>
          </p:cNvGraphicFramePr>
          <p:nvPr/>
        </p:nvGraphicFramePr>
        <p:xfrm>
          <a:off x="548640" y="14630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286000"/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Направление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План, млн руб.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Факт, млн руб.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Исполнение, %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Флот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102,4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Ж/д перевозки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720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728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101,1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Элеваторы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91,2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Итого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1 620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1 605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99,1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B2D33"/>
                </a:solidFill>
              </a:rPr>
              <a:t>Итого по холдингу: факт 1 605 млн руб. при плане 1 620 — исполнение 99,1%.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Выручка по направлениям, млн руб.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Сентябрь 2026</a:t>
            </a:r>
          </a:p>
        </p:txBody>
      </p:sp>
      <p:graphicFrame>
        <p:nvGraphicFramePr>
          <p:cNvPr id="5" name="График_план_факт"/>
          <p:cNvGraphicFramePr>
            <a:graphicFrameLocks noGrp="1"/>
          </p:cNvGraphicFramePr>
          <p:nvPr/>
        </p:nvGraphicFramePr>
        <p:xfrm>
          <a:off x="548640" y="1371600"/>
          <a:ext cx="109728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Динамика выручки с начала года, млн руб.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Сентябрь 2026</a:t>
            </a:r>
          </a:p>
        </p:txBody>
      </p:sp>
      <p:graphicFrame>
        <p:nvGraphicFramePr>
          <p:cNvPr id="5" name="График_динамика"/>
          <p:cNvGraphicFramePr>
            <a:graphicFrameLocks noGrp="1"/>
          </p:cNvGraphicFramePr>
          <p:nvPr/>
        </p:nvGraphicFramePr>
        <p:xfrm>
          <a:off x="548640" y="1371600"/>
          <a:ext cx="109728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EBITDA и рентабельность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Сентябрь 2026</a:t>
            </a:r>
          </a:p>
        </p:txBody>
      </p:sp>
      <p:graphicFrame>
        <p:nvGraphicFramePr>
          <p:cNvPr id="5" name="Таблица_EBITDA"/>
          <p:cNvGraphicFramePr>
            <a:graphicFrameLocks noGrp="1"/>
          </p:cNvGraphicFramePr>
          <p:nvPr/>
        </p:nvGraphicFramePr>
        <p:xfrm>
          <a:off x="548640" y="14630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286000"/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Направление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Выручка, млн руб.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EBITDA, млн руб.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Рентабельность, %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Флот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31,1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Ж/д перевозки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728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24,0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Элеваторы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38,1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Итого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1 605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473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29,5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Флот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Сентябрь 2026</a:t>
            </a:r>
          </a:p>
        </p:txBody>
      </p:sp>
      <p:graphicFrame>
        <p:nvGraphicFramePr>
          <p:cNvPr id="5" name="Таблица_Флот"/>
          <p:cNvGraphicFramePr>
            <a:graphicFrameLocks noGrp="1"/>
          </p:cNvGraphicFramePr>
          <p:nvPr/>
        </p:nvGraphicFramePr>
        <p:xfrm>
          <a:off x="548640" y="146304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011680"/>
                <a:gridCol w="2011680"/>
                <a:gridCol w="201168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Прошлый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Текущий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Изменение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Судов в эксплуатации, шт.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Загрузка флота, %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86,5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89,0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+2,5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Средняя ставка фрахта, тыс. руб./сут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1 840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1 905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+65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</a:rPr>
              <a:t>Комментарий дирекции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B2D33"/>
                </a:solidFill>
              </a:rPr>
              <a:t>Загрузка выросла до 89% после выхода двух судов из планового ремонта. (Дирекция «Флот»)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Ж/д перевозки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Сентябрь 2026</a:t>
            </a:r>
          </a:p>
        </p:txBody>
      </p:sp>
      <p:graphicFrame>
        <p:nvGraphicFramePr>
          <p:cNvPr id="5" name="Таблица_Ж/д перевозки"/>
          <p:cNvGraphicFramePr>
            <a:graphicFrameLocks noGrp="1"/>
          </p:cNvGraphicFramePr>
          <p:nvPr/>
        </p:nvGraphicFramePr>
        <p:xfrm>
          <a:off x="548640" y="146304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011680"/>
                <a:gridCol w="2011680"/>
                <a:gridCol w="201168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Прошлый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Текущий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Изменение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Вагонов в парке, шт.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3 120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3 150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+30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Оборот вагона, сут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11,8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11,2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−0,6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Простой в ремонте, вагоно-сут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2 410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2 185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−225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</a:rPr>
              <a:t>Комментарий дирекции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B2D33"/>
                </a:solidFill>
              </a:rPr>
              <a:t>Оборот вагона сократился до 11,2 суток за счёт маршрутных отправок. (Дирекция «Ж/д перевозки»)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Элеваторы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Сентябрь 2026</a:t>
            </a:r>
          </a:p>
        </p:txBody>
      </p:sp>
      <p:graphicFrame>
        <p:nvGraphicFramePr>
          <p:cNvPr id="5" name="Таблица_Элеваторы"/>
          <p:cNvGraphicFramePr>
            <a:graphicFrameLocks noGrp="1"/>
          </p:cNvGraphicFramePr>
          <p:nvPr/>
        </p:nvGraphicFramePr>
        <p:xfrm>
          <a:off x="548640" y="146304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011680"/>
                <a:gridCol w="2011680"/>
                <a:gridCol w="201168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Прошлый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Текущий месяц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Изменение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Принято зерна, тыс. 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+126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Отгружено зерна, тыс. т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305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377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+72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Загрузка мощностей,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61,0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78,5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+17,5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</a:rPr>
              <a:t>Комментарий дирекции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B2D33"/>
                </a:solidFill>
              </a:rPr>
              <a:t>Пик приёмки урожая; отставание от плана — из-за поздней уборки в регионе. (Дирекция «Элеваторы»)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Долговая нагрузка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Сентябрь 2026</a:t>
            </a:r>
          </a:p>
        </p:txBody>
      </p:sp>
      <p:graphicFrame>
        <p:nvGraphicFramePr>
          <p:cNvPr id="5" name="Таблица_долг"/>
          <p:cNvGraphicFramePr>
            <a:graphicFrameLocks noGrp="1"/>
          </p:cNvGraphicFramePr>
          <p:nvPr/>
        </p:nvGraphicFramePr>
        <p:xfrm>
          <a:off x="548640" y="146304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286000"/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Долг, млн руб.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9 720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EBITDA за 12 мес., млн руб.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3 185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Долг /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3,05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D33"/>
                          </a:solidFill>
                        </a:rPr>
                        <a:t>Ковенант, не более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2B2D33"/>
                          </a:solidFill>
                        </a:rPr>
                        <a:t>3,5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</a:rPr>
              <a:t>Ковенант соблюдён: 3,05 при пороге 3,5, запас 0,45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Сентябрь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2D33"/>
                </a:solidFill>
              </a:rPr>
              <a:t>Выручка холдинга растёт третий месяц подряд; основной вклад — ж/д перевозки. Элеваторы отстают от плана из-за поздней уборки, ожидаем восполнения в октябре.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Контроль сборки (служебный слайд)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Управленческий отчёт холдинга · Сентябрь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B2D33"/>
                </a:solidFill>
              </a:rPr>
              <a:t>• Исходники: 2026-09/upravlenka.xlsx, 2026-09/kommentarii.xlsx — проверки пройдены.
• Контрольные суммы: план 1 620, факт 1 605, EBITDA 473 млн руб. — совпадают с суммой направлений.
• Долг / EBITDA = 3,05.
• Комментарии подразделений вставлены дословно из файла комментариев.
• Перед отправкой: сверить 2–3 цифры со слайдов с исходниками и удалить этот слайд.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